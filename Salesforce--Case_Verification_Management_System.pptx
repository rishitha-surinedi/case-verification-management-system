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2324D-AEC3-49B7-BB59-0E8DE2F89DB7}" v="1" dt="2026-10-15T13:46:24.5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ish Preetham V" userId="db53adf5ff0e007d" providerId="LiveId" clId="{FF6CECBE-73F6-48C7-A571-96AF4711B2B4}"/>
    <pc:docChg chg="custSel addSld delSld modSld sldOrd">
      <pc:chgData name="Satish Preetham V" userId="db53adf5ff0e007d" providerId="LiveId" clId="{FF6CECBE-73F6-48C7-A571-96AF4711B2B4}" dt="2026-10-16T12:37:20.675" v="64" actId="47"/>
      <pc:docMkLst>
        <pc:docMk/>
      </pc:docMkLst>
      <pc:sldChg chg="del">
        <pc:chgData name="Satish Preetham V" userId="db53adf5ff0e007d" providerId="LiveId" clId="{FF6CECBE-73F6-48C7-A571-96AF4711B2B4}" dt="2026-10-16T12:37:20.675" v="64" actId="47"/>
        <pc:sldMkLst>
          <pc:docMk/>
          <pc:sldMk cId="0" sldId="258"/>
        </pc:sldMkLst>
      </pc:sldChg>
      <pc:sldChg chg="delSp modSp mod">
        <pc:chgData name="Satish Preetham V" userId="db53adf5ff0e007d" providerId="LiveId" clId="{FF6CECBE-73F6-48C7-A571-96AF4711B2B4}" dt="2026-10-15T13:46:55.273" v="19"/>
        <pc:sldMkLst>
          <pc:docMk/>
          <pc:sldMk cId="0" sldId="264"/>
        </pc:sldMkLst>
        <pc:spChg chg="del mod">
          <ac:chgData name="Satish Preetham V" userId="db53adf5ff0e007d" providerId="LiveId" clId="{FF6CECBE-73F6-48C7-A571-96AF4711B2B4}" dt="2026-10-15T13:46:55.273" v="19"/>
          <ac:spMkLst>
            <pc:docMk/>
            <pc:sldMk cId="0" sldId="264"/>
            <ac:spMk id="9" creationId="{00000000-0000-0000-0000-000000000000}"/>
          </ac:spMkLst>
        </pc:spChg>
      </pc:sldChg>
      <pc:sldChg chg="delSp modSp mod ord">
        <pc:chgData name="Satish Preetham V" userId="db53adf5ff0e007d" providerId="LiveId" clId="{FF6CECBE-73F6-48C7-A571-96AF4711B2B4}" dt="2026-10-15T13:47:59.876" v="29" actId="1076"/>
        <pc:sldMkLst>
          <pc:docMk/>
          <pc:sldMk cId="0" sldId="265"/>
        </pc:sldMkLst>
        <pc:spChg chg="mod">
          <ac:chgData name="Satish Preetham V" userId="db53adf5ff0e007d" providerId="LiveId" clId="{FF6CECBE-73F6-48C7-A571-96AF4711B2B4}" dt="2026-10-15T13:47:33.630" v="25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tish Preetham V" userId="db53adf5ff0e007d" providerId="LiveId" clId="{FF6CECBE-73F6-48C7-A571-96AF4711B2B4}" dt="2026-10-15T13:47:38.237" v="26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Satish Preetham V" userId="db53adf5ff0e007d" providerId="LiveId" clId="{FF6CECBE-73F6-48C7-A571-96AF4711B2B4}" dt="2026-10-15T13:47:15.302" v="23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Satish Preetham V" userId="db53adf5ff0e007d" providerId="LiveId" clId="{FF6CECBE-73F6-48C7-A571-96AF4711B2B4}" dt="2026-10-15T13:47:09.754" v="22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Satish Preetham V" userId="db53adf5ff0e007d" providerId="LiveId" clId="{FF6CECBE-73F6-48C7-A571-96AF4711B2B4}" dt="2026-10-15T13:47:59.876" v="29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Satish Preetham V" userId="db53adf5ff0e007d" providerId="LiveId" clId="{FF6CECBE-73F6-48C7-A571-96AF4711B2B4}" dt="2026-10-15T13:47:49.045" v="27" actId="1076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Satish Preetham V" userId="db53adf5ff0e007d" providerId="LiveId" clId="{FF6CECBE-73F6-48C7-A571-96AF4711B2B4}" dt="2026-10-15T13:46:14.342" v="9"/>
          <ac:spMkLst>
            <pc:docMk/>
            <pc:sldMk cId="0" sldId="265"/>
            <ac:spMk id="9" creationId="{00000000-0000-0000-0000-000000000000}"/>
          </ac:spMkLst>
        </pc:spChg>
        <pc:spChg chg="del">
          <ac:chgData name="Satish Preetham V" userId="db53adf5ff0e007d" providerId="LiveId" clId="{FF6CECBE-73F6-48C7-A571-96AF4711B2B4}" dt="2026-10-15T13:46:21.994" v="11" actId="21"/>
          <ac:spMkLst>
            <pc:docMk/>
            <pc:sldMk cId="0" sldId="265"/>
            <ac:spMk id="10" creationId="{00000000-0000-0000-0000-000000000000}"/>
          </ac:spMkLst>
        </pc:spChg>
        <pc:spChg chg="del">
          <ac:chgData name="Satish Preetham V" userId="db53adf5ff0e007d" providerId="LiveId" clId="{FF6CECBE-73F6-48C7-A571-96AF4711B2B4}" dt="2026-10-15T13:46:21.994" v="11" actId="21"/>
          <ac:spMkLst>
            <pc:docMk/>
            <pc:sldMk cId="0" sldId="265"/>
            <ac:spMk id="12" creationId="{00000000-0000-0000-0000-000000000000}"/>
          </ac:spMkLst>
        </pc:spChg>
        <pc:spChg chg="del">
          <ac:chgData name="Satish Preetham V" userId="db53adf5ff0e007d" providerId="LiveId" clId="{FF6CECBE-73F6-48C7-A571-96AF4711B2B4}" dt="2026-10-15T13:46:29.390" v="13" actId="21"/>
          <ac:spMkLst>
            <pc:docMk/>
            <pc:sldMk cId="0" sldId="265"/>
            <ac:spMk id="14" creationId="{00000000-0000-0000-0000-000000000000}"/>
          </ac:spMkLst>
        </pc:spChg>
        <pc:spChg chg="del">
          <ac:chgData name="Satish Preetham V" userId="db53adf5ff0e007d" providerId="LiveId" clId="{FF6CECBE-73F6-48C7-A571-96AF4711B2B4}" dt="2026-10-15T13:46:36.674" v="15" actId="21"/>
          <ac:spMkLst>
            <pc:docMk/>
            <pc:sldMk cId="0" sldId="265"/>
            <ac:spMk id="15" creationId="{00000000-0000-0000-0000-000000000000}"/>
          </ac:spMkLst>
        </pc:spChg>
        <pc:cxnChg chg="del">
          <ac:chgData name="Satish Preetham V" userId="db53adf5ff0e007d" providerId="LiveId" clId="{FF6CECBE-73F6-48C7-A571-96AF4711B2B4}" dt="2026-10-15T13:46:21.994" v="11" actId="21"/>
          <ac:cxnSpMkLst>
            <pc:docMk/>
            <pc:sldMk cId="0" sldId="265"/>
            <ac:cxnSpMk id="11" creationId="{00000000-0000-0000-0000-000000000000}"/>
          </ac:cxnSpMkLst>
        </pc:cxnChg>
        <pc:cxnChg chg="del">
          <ac:chgData name="Satish Preetham V" userId="db53adf5ff0e007d" providerId="LiveId" clId="{FF6CECBE-73F6-48C7-A571-96AF4711B2B4}" dt="2026-10-15T13:46:21.994" v="11" actId="21"/>
          <ac:cxnSpMkLst>
            <pc:docMk/>
            <pc:sldMk cId="0" sldId="265"/>
            <ac:cxnSpMk id="13" creationId="{00000000-0000-0000-0000-000000000000}"/>
          </ac:cxnSpMkLst>
        </pc:cxnChg>
      </pc:sldChg>
      <pc:sldChg chg="del">
        <pc:chgData name="Satish Preetham V" userId="db53adf5ff0e007d" providerId="LiveId" clId="{FF6CECBE-73F6-48C7-A571-96AF4711B2B4}" dt="2026-10-15T13:45:35.204" v="0" actId="47"/>
        <pc:sldMkLst>
          <pc:docMk/>
          <pc:sldMk cId="0" sldId="266"/>
        </pc:sldMkLst>
      </pc:sldChg>
      <pc:sldChg chg="addSp modSp new del mod ord">
        <pc:chgData name="Satish Preetham V" userId="db53adf5ff0e007d" providerId="LiveId" clId="{FF6CECBE-73F6-48C7-A571-96AF4711B2B4}" dt="2026-10-15T14:06:04.101" v="63" actId="47"/>
        <pc:sldMkLst>
          <pc:docMk/>
          <pc:sldMk cId="3158694251" sldId="268"/>
        </pc:sldMkLst>
        <pc:spChg chg="add mod">
          <ac:chgData name="Satish Preetham V" userId="db53adf5ff0e007d" providerId="LiveId" clId="{FF6CECBE-73F6-48C7-A571-96AF4711B2B4}" dt="2026-10-15T13:48:54.362" v="38" actId="20577"/>
          <ac:spMkLst>
            <pc:docMk/>
            <pc:sldMk cId="3158694251" sldId="268"/>
            <ac:spMk id="3" creationId="{3E6C9D47-AD2B-0E3A-CA76-C337E2BC907C}"/>
          </ac:spMkLst>
        </pc:spChg>
        <pc:spChg chg="add mod">
          <ac:chgData name="Satish Preetham V" userId="db53adf5ff0e007d" providerId="LiveId" clId="{FF6CECBE-73F6-48C7-A571-96AF4711B2B4}" dt="2026-10-15T13:51:07.865" v="62" actId="122"/>
          <ac:spMkLst>
            <pc:docMk/>
            <pc:sldMk cId="3158694251" sldId="268"/>
            <ac:spMk id="5" creationId="{CE7870F6-68E5-70E9-71ED-BD5F700D902B}"/>
          </ac:spMkLst>
        </pc:spChg>
        <pc:spChg chg="add mod">
          <ac:chgData name="Satish Preetham V" userId="db53adf5ff0e007d" providerId="LiveId" clId="{FF6CECBE-73F6-48C7-A571-96AF4711B2B4}" dt="2026-10-15T13:51:00.885" v="61" actId="122"/>
          <ac:spMkLst>
            <pc:docMk/>
            <pc:sldMk cId="3158694251" sldId="268"/>
            <ac:spMk id="7" creationId="{F5F06F4D-DF28-0BC4-9201-4815EEFDE381}"/>
          </ac:spMkLst>
        </pc:spChg>
        <pc:spChg chg="add mod">
          <ac:chgData name="Satish Preetham V" userId="db53adf5ff0e007d" providerId="LiveId" clId="{FF6CECBE-73F6-48C7-A571-96AF4711B2B4}" dt="2026-10-15T13:51:07.865" v="62" actId="122"/>
          <ac:spMkLst>
            <pc:docMk/>
            <pc:sldMk cId="3158694251" sldId="268"/>
            <ac:spMk id="10" creationId="{00000000-0000-0000-0000-000000000000}"/>
          </ac:spMkLst>
        </pc:spChg>
        <pc:spChg chg="add mod">
          <ac:chgData name="Satish Preetham V" userId="db53adf5ff0e007d" providerId="LiveId" clId="{FF6CECBE-73F6-48C7-A571-96AF4711B2B4}" dt="2026-10-15T13:51:07.865" v="62" actId="122"/>
          <ac:spMkLst>
            <pc:docMk/>
            <pc:sldMk cId="3158694251" sldId="268"/>
            <ac:spMk id="12" creationId="{00000000-0000-0000-0000-000000000000}"/>
          </ac:spMkLst>
        </pc:spChg>
        <pc:cxnChg chg="add mod">
          <ac:chgData name="Satish Preetham V" userId="db53adf5ff0e007d" providerId="LiveId" clId="{FF6CECBE-73F6-48C7-A571-96AF4711B2B4}" dt="2026-10-15T13:48:51.795" v="37" actId="1076"/>
          <ac:cxnSpMkLst>
            <pc:docMk/>
            <pc:sldMk cId="3158694251" sldId="268"/>
            <ac:cxnSpMk id="11" creationId="{00000000-0000-0000-0000-000000000000}"/>
          </ac:cxnSpMkLst>
        </pc:cxnChg>
        <pc:cxnChg chg="add mod">
          <ac:chgData name="Satish Preetham V" userId="db53adf5ff0e007d" providerId="LiveId" clId="{FF6CECBE-73F6-48C7-A571-96AF4711B2B4}" dt="2026-10-15T13:48:51.795" v="37" actId="1076"/>
          <ac:cxnSpMkLst>
            <pc:docMk/>
            <pc:sldMk cId="3158694251" sldId="268"/>
            <ac:cxnSpMk id="13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80160"/>
            <a:ext cx="10607040" cy="10972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3200" b="1" i="0">
                <a:solidFill>
                  <a:srgbClr val="1C3752"/>
                </a:solidFill>
                <a:latin typeface="Arial"/>
              </a:defRPr>
            </a:pPr>
            <a:r>
              <a:t>CASE VERIFICATION</a:t>
            </a:r>
          </a:p>
          <a:p>
            <a:pPr algn="l">
              <a:spcAft>
                <a:spcPts val="700"/>
              </a:spcAft>
              <a:defRPr sz="3200" b="1" i="0">
                <a:solidFill>
                  <a:srgbClr val="1C3752"/>
                </a:solidFill>
                <a:latin typeface="Arial"/>
              </a:defRPr>
            </a:pPr>
            <a:r>
              <a:t>MANAGEMENT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560320"/>
            <a:ext cx="1737360" cy="45720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3017520"/>
            <a:ext cx="9784080" cy="4572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100" b="0" i="0">
                <a:solidFill>
                  <a:srgbClr val="2D3238"/>
                </a:solidFill>
                <a:latin typeface="Arial"/>
              </a:defRPr>
            </a:pPr>
            <a:r>
              <a:t>Using Salesforce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03320"/>
            <a:ext cx="9875520" cy="7315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646A70"/>
                </a:solidFill>
                <a:latin typeface="Arial"/>
              </a:defRPr>
            </a:pPr>
            <a:r>
              <a:t>Search published Knowledge Articles before creating a support Case.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t>Problem Statement and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120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5120640" cy="15087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Support teams receive repetitive Cases. Some issues already have solutions in published Knowledge Articles, but customers may create new Cases without checking them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5120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120640" cy="12344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Help customers check existing solutions first and create a Salesforce Case only when the issue remains unresolved.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0292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Key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4937760" cy="43891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10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•  Customer and user access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•  Knowledge Article search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•  Problem verification through Screen Flow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•  Case creation for unresolved issues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•  Case creation notification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•  Ticket page in the Customer Support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t>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00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200" b="1">
                <a:solidFill>
                  <a:srgbClr val="1C3752"/>
                </a:solidFill>
                <a:latin typeface="Arial"/>
              </a:defRPr>
            </a:pPr>
            <a:r>
              <a:t>1. Enter Issue</a:t>
            </a:r>
          </a:p>
          <a:p>
            <a:pPr algn="ctr">
              <a:defRPr sz="1000">
                <a:solidFill>
                  <a:srgbClr val="2D3238"/>
                </a:solidFill>
                <a:latin typeface="Arial"/>
              </a:defRPr>
            </a:pPr>
            <a:r>
              <a:t>Description,</a:t>
            </a:r>
            <a:br/>
            <a:r>
              <a:t>category,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828800"/>
            <a:ext cx="1600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200" b="1">
                <a:solidFill>
                  <a:srgbClr val="1C3752"/>
                </a:solidFill>
                <a:latin typeface="Arial"/>
              </a:defRPr>
            </a:pPr>
            <a:r>
              <a:t>2. Search</a:t>
            </a:r>
          </a:p>
          <a:p>
            <a:pPr algn="ctr">
              <a:defRPr sz="1000">
                <a:solidFill>
                  <a:srgbClr val="2D3238"/>
                </a:solidFill>
                <a:latin typeface="Arial"/>
              </a:defRPr>
            </a:pPr>
            <a:r>
              <a:t>Get Records searches</a:t>
            </a:r>
            <a:br/>
            <a:r>
              <a:t>published articles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1600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200" b="1">
                <a:solidFill>
                  <a:srgbClr val="1C3752"/>
                </a:solidFill>
                <a:latin typeface="Arial"/>
              </a:defRPr>
            </a:pPr>
            <a:r>
              <a:t>3. Match Found?</a:t>
            </a:r>
          </a:p>
          <a:p>
            <a:pPr algn="ctr">
              <a:defRPr sz="1000">
                <a:solidFill>
                  <a:srgbClr val="2D3238"/>
                </a:solidFill>
                <a:latin typeface="Arial"/>
              </a:defRPr>
            </a:pPr>
            <a:r>
              <a:t>Decision checks</a:t>
            </a:r>
            <a:br/>
            <a:r>
              <a:t>the search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1600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200" b="1">
                <a:solidFill>
                  <a:srgbClr val="1C3752"/>
                </a:solidFill>
                <a:latin typeface="Arial"/>
              </a:defRPr>
            </a:pPr>
            <a:r>
              <a:t>4. Show Solution</a:t>
            </a:r>
          </a:p>
          <a:p>
            <a:pPr algn="ctr">
              <a:defRPr sz="1000">
                <a:solidFill>
                  <a:srgbClr val="2D3238"/>
                </a:solidFill>
                <a:latin typeface="Arial"/>
              </a:defRPr>
            </a:pPr>
            <a:r>
              <a:t>Display article</a:t>
            </a:r>
            <a:br/>
            <a:r>
              <a:t>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828800"/>
            <a:ext cx="1600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200" b="1">
                <a:solidFill>
                  <a:srgbClr val="1C3752"/>
                </a:solidFill>
                <a:latin typeface="Arial"/>
              </a:defRPr>
            </a:pPr>
            <a:r>
              <a:t>5. Helpful?</a:t>
            </a:r>
          </a:p>
          <a:p>
            <a:pPr algn="ctr">
              <a:defRPr sz="1000">
                <a:solidFill>
                  <a:srgbClr val="2D3238"/>
                </a:solidFill>
                <a:latin typeface="Arial"/>
              </a:defRPr>
            </a:pPr>
            <a:r>
              <a:t>Customer selects</a:t>
            </a:r>
            <a:br/>
            <a:r>
              <a:t>YES or 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828800"/>
            <a:ext cx="1600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200" b="1">
                <a:solidFill>
                  <a:srgbClr val="1C3752"/>
                </a:solidFill>
                <a:latin typeface="Arial"/>
              </a:defRPr>
            </a:pPr>
            <a:r>
              <a:t>6. End / Create</a:t>
            </a:r>
          </a:p>
          <a:p>
            <a:pPr algn="ctr">
              <a:defRPr sz="1000">
                <a:solidFill>
                  <a:srgbClr val="2D3238"/>
                </a:solidFill>
                <a:latin typeface="Arial"/>
              </a:defRPr>
            </a:pPr>
            <a:r>
              <a:t>Resolve or create</a:t>
            </a:r>
            <a:br/>
            <a:r>
              <a:t>Case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478024"/>
            <a:ext cx="320040" cy="0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23360" y="2478024"/>
            <a:ext cx="320040" cy="0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2478024"/>
            <a:ext cx="320040" cy="0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2478024"/>
            <a:ext cx="320039" cy="0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84080" y="2478024"/>
            <a:ext cx="320040" cy="0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26280" y="416052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300" b="1">
                <a:solidFill>
                  <a:srgbClr val="1C3752"/>
                </a:solidFill>
                <a:latin typeface="Arial"/>
              </a:defRPr>
            </a:pPr>
            <a:r>
              <a:t>No Article Found</a:t>
            </a:r>
          </a:p>
          <a:p>
            <a:pPr algn="ctr">
              <a:defRPr sz="1100">
                <a:solidFill>
                  <a:srgbClr val="2D3238"/>
                </a:solidFill>
                <a:latin typeface="Arial"/>
              </a:defRPr>
            </a:pPr>
            <a:r>
              <a:t>Create Case directly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16052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300" b="1">
                <a:solidFill>
                  <a:srgbClr val="1C3752"/>
                </a:solidFill>
                <a:latin typeface="Arial"/>
              </a:defRPr>
            </a:pPr>
            <a:r>
              <a:t>Solution Not Helpful</a:t>
            </a:r>
          </a:p>
          <a:p>
            <a:pPr algn="ctr">
              <a:defRPr sz="1100">
                <a:solidFill>
                  <a:srgbClr val="2D3238"/>
                </a:solidFill>
                <a:latin typeface="Arial"/>
              </a:defRPr>
            </a:pPr>
            <a:r>
              <a:t>Open Create Case 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4160520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200" b="1">
                <a:solidFill>
                  <a:srgbClr val="1C3752"/>
                </a:solidFill>
                <a:latin typeface="Arial"/>
              </a:defRPr>
            </a:pPr>
            <a:r>
              <a:t>Case Created</a:t>
            </a:r>
          </a:p>
          <a:p>
            <a:pPr algn="ctr">
              <a:defRPr sz="1000">
                <a:solidFill>
                  <a:srgbClr val="2D3238"/>
                </a:solidFill>
                <a:latin typeface="Arial"/>
              </a:defRPr>
            </a:pPr>
            <a:r>
              <a:t>Notify and confirm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38928" y="3127248"/>
            <a:ext cx="347472" cy="1033272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522208" y="3127248"/>
            <a:ext cx="457200" cy="1033272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92640" y="4681728"/>
            <a:ext cx="320040" cy="0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715000"/>
            <a:ext cx="1051560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C3752"/>
                </a:solidFill>
                <a:latin typeface="Arial"/>
              </a:defRPr>
            </a:pPr>
            <a:r>
              <a:t>YES (solution helpful) → End without creating a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t>Salesforce Metadata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Name / Type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Standard Objects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Case, Contact, User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Store support cases, customer details, and user records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Knowledge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Knowledge__kav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Stores published troubleshooting articles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Screen Flow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Problem verification flow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Captures issue details and controls the decision paths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Flow Elements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Screens, Get Records, Decision, Create Records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Searches Knowledge and creates a Case when needed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Notification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Case creation notification action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Notifies the customer after Case creation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Lightning App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Customer Support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Provides the main support workspace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Lightning App Page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Ticket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Hosts the Screen Flow in the app navigation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Reports / Dashboards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Mentioned in project scope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Implementation details are not specified in the supplied documentation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t>Phase 1: Customer Support App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521208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5166360" cy="12344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Create a central Lightning workspace for support users to access Cases, Knowledge, reports, and the verification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521208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Objects and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5120640" cy="20116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Customer Support Lightning App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Case and Knowledge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Reports and Dashboards navigation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User profile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07008"/>
            <a:ext cx="5120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Configuration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27632"/>
            <a:ext cx="5074920" cy="40233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Create the app in App Manager.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Set the app name and navigation style.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Add Home, Reports, Dashboards, Cases, and Knowledge tabs.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Set the supported desktop and phone form factors.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Assign app visibility to the required user profiles.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t>Phase 2: Knowledge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744200" cy="8229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t>Prepare and publish troubleshooting articles so the Screen Flow can find existing solutions before creating support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21208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Configuration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5120640" cy="2468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Open Import Articles in Salesforce Setup.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Upload the prepared Knowledge Article ZIP package.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Monitor the job under Article Imports.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Review title, topic, description, solution, language, and status.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97480"/>
            <a:ext cx="5120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108960"/>
            <a:ext cx="5074920" cy="2468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Check imported article content.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Review duplicate entries.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Publish approved articles.</a:t>
            </a:r>
          </a:p>
          <a:p>
            <a:pPr algn="l">
              <a:spcAft>
                <a:spcPts val="9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Ensure published articles are available to the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t>Phase 3: Problem Verification Screen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114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Main Flow Elements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64208"/>
          <a:ext cx="106984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Element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Role in the Process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Describe Problem screen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Captures problem description, issue category, and email address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Get Records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Searches published Knowledge Articles by the supplied input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Checks whether matching articles were returned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Display Solution screen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Shows article details and asks whether the solution helped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Was Solution Helpful? decision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Routes YES to End or NO to Case creation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977639"/>
            <a:ext cx="521208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C3752"/>
                </a:solidFill>
                <a:latin typeface="Arial"/>
              </a:defRPr>
            </a:pPr>
            <a:r>
              <a:t>If a Solution Is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5074920" cy="1417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D3238"/>
                </a:solidFill>
                <a:latin typeface="Arial"/>
              </a:defRPr>
            </a:pPr>
            <a:r>
              <a:t>•  Display the matching article.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D3238"/>
                </a:solidFill>
                <a:latin typeface="Arial"/>
              </a:defRPr>
            </a:pPr>
            <a:r>
              <a:t>•  YES: end the Flow without creating a Case.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D3238"/>
                </a:solidFill>
                <a:latin typeface="Arial"/>
              </a:defRPr>
            </a:pPr>
            <a:r>
              <a:t>•  NO: open the Create Case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977639"/>
            <a:ext cx="50749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C3752"/>
                </a:solidFill>
                <a:latin typeface="Arial"/>
              </a:defRPr>
            </a:pPr>
            <a:r>
              <a:t>If No Article Is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389120"/>
            <a:ext cx="4983480" cy="1417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D3238"/>
                </a:solidFill>
                <a:latin typeface="Arial"/>
              </a:defRPr>
            </a:pPr>
            <a:r>
              <a:t>•  Create a Case directly.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D3238"/>
                </a:solidFill>
                <a:latin typeface="Arial"/>
              </a:defRPr>
            </a:pPr>
            <a:r>
              <a:t>•  Set Status to New and map the captured details.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D3238"/>
                </a:solidFill>
                <a:latin typeface="Arial"/>
              </a:defRPr>
            </a:pPr>
            <a:r>
              <a:t>•  Trigger notification and show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83564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rPr dirty="0"/>
              <a:t>Phase 4: Ticket Page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671107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02453"/>
            <a:ext cx="521208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rPr dirty="0"/>
              <a:t>Configuration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35661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Open Lightning App Builder from Setup.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Create an App Page and choose the One Region layout.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Name the page Ticket.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Add the standard Flow component.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Select the active verification Screen Flow.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2D3238"/>
                </a:solidFill>
                <a:latin typeface="Arial"/>
              </a:defRPr>
            </a:pPr>
            <a:r>
              <a:t>•  Save and activate the page for the Customer Support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842" y="2718452"/>
            <a:ext cx="50292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rPr dirty="0"/>
              <a:t>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842" y="3239828"/>
            <a:ext cx="5029200" cy="9144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D3238"/>
                </a:solidFill>
                <a:latin typeface="Arial"/>
              </a:defRPr>
            </a:pPr>
            <a:r>
              <a:rPr dirty="0"/>
              <a:t>The Ticket tab appears in the Customer Support app navigation and opens the verification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t>Case Creation and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Case Details Captured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27632"/>
          <a:ext cx="51663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605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Subject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Summary of the issue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Problem details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Origin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Source of the Case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Priority captured for the Case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New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61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Customer Email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Email captured in the Flow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188720"/>
            <a:ext cx="50292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Test Scenarios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627632"/>
          <a:ext cx="5166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C3752"/>
                          </a:solidFill>
                          <a:latin typeface="Arial"/>
                        </a:defRPr>
                      </a:pPr>
                      <a:r>
                        <a:t>Expected Result</a:t>
                      </a:r>
                    </a:p>
                  </a:txBody>
                  <a:tcPr marL="64008" marR="64008" marT="32004" marB="32004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Required input validation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Required fields are checked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Knowledge search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Matching published articles are retrieved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Article found + YES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Flow ends without creating a Case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Article found + NO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Case is created and notification runs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No article found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Case is created and confirmation appears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Field mapping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00" b="0">
                          <a:solidFill>
                            <a:srgbClr val="2D3238"/>
                          </a:solidFill>
                          <a:latin typeface="Arial"/>
                        </a:defRPr>
                      </a:pPr>
                      <a:r>
                        <a:t>Captured details are saved to the Case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>
              <a:spcAft>
                <a:spcPts val="700"/>
              </a:spcAft>
              <a:defRPr sz="2500" b="1" i="0">
                <a:solidFill>
                  <a:srgbClr val="1C3752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417320" cy="41148"/>
          </a:xfrm>
          <a:prstGeom prst="rect">
            <a:avLst/>
          </a:prstGeom>
          <a:solidFill>
            <a:srgbClr val="2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spcAft>
                <a:spcPts val="700"/>
              </a:spcAft>
              <a:defRPr sz="2400" b="1" i="0">
                <a:solidFill>
                  <a:srgbClr val="1C3752"/>
                </a:solidFill>
                <a:latin typeface="Arial"/>
              </a:defRPr>
            </a:pPr>
            <a:r>
              <a:t>Case Verification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9966960" cy="10515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spcAft>
                <a:spcPts val="700"/>
              </a:spcAft>
              <a:defRPr sz="1700" b="0" i="0">
                <a:solidFill>
                  <a:srgbClr val="2D3238"/>
                </a:solidFill>
                <a:latin typeface="Arial"/>
              </a:defRPr>
            </a:pPr>
            <a:r>
              <a:t>The system checks published Knowledge Articles before creating a support Case. If a solution resolves the issue, the Flow ends without creating a Case. Otherwise, a Case is created with the captured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3548564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500" b="1">
                <a:solidFill>
                  <a:srgbClr val="1C3752"/>
                </a:solidFill>
                <a:latin typeface="Arial"/>
              </a:defRPr>
            </a:pPr>
            <a:r>
              <a:t>Search</a:t>
            </a:r>
          </a:p>
          <a:p>
            <a:pPr algn="ctr">
              <a:defRPr sz="1100">
                <a:solidFill>
                  <a:srgbClr val="2D3238"/>
                </a:solidFill>
                <a:latin typeface="Arial"/>
              </a:defRPr>
            </a:pPr>
            <a:r>
              <a:t>Knowledge Articles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4033196"/>
            <a:ext cx="594360" cy="0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17720" y="3548564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500" b="1">
                <a:solidFill>
                  <a:srgbClr val="1C3752"/>
                </a:solidFill>
                <a:latin typeface="Arial"/>
              </a:defRPr>
            </a:pPr>
            <a:r>
              <a:t>Verify</a:t>
            </a:r>
          </a:p>
          <a:p>
            <a:pPr algn="ctr">
              <a:defRPr sz="1100">
                <a:solidFill>
                  <a:srgbClr val="2D3238"/>
                </a:solidFill>
                <a:latin typeface="Arial"/>
              </a:defRPr>
            </a:pPr>
            <a:r>
              <a:t>Show solution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20840" y="4033196"/>
            <a:ext cx="594360" cy="0"/>
          </a:xfrm>
          <a:prstGeom prst="line">
            <a:avLst/>
          </a:prstGeom>
          <a:ln w="1651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3548564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27432" rtlCol="0" anchor="ctr"/>
          <a:lstStyle/>
          <a:p>
            <a:pPr algn="ctr">
              <a:defRPr sz="1400" b="1">
                <a:solidFill>
                  <a:srgbClr val="1C3752"/>
                </a:solidFill>
                <a:latin typeface="Arial"/>
              </a:defRPr>
            </a:pPr>
            <a:r>
              <a:t>Resolve / Create Case</a:t>
            </a:r>
          </a:p>
          <a:p>
            <a:pPr algn="ctr">
              <a:defRPr sz="1100">
                <a:solidFill>
                  <a:srgbClr val="2D3238"/>
                </a:solidFill>
                <a:latin typeface="Arial"/>
              </a:defRPr>
            </a:pPr>
            <a:r>
              <a:t>End or notify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38212"/>
            <a:ext cx="10332720" cy="3657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1C3752"/>
                </a:solidFill>
                <a:latin typeface="Arial"/>
              </a:defRPr>
            </a:pPr>
            <a:r>
              <a:t>Search → Verify → Resolve or Create Case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239498" y="5795889"/>
          <a:ext cx="8128000" cy="5791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THANK YOU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879</Words>
  <Application>Microsoft Office PowerPoint</Application>
  <PresentationFormat>Widescreen</PresentationFormat>
  <Paragraphs>174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Satish Preetham V</cp:lastModifiedBy>
  <cp:revision>2</cp:revision>
  <dcterms:created xsi:type="dcterms:W3CDTF">2013-01-27T09:14:16Z</dcterms:created>
  <dcterms:modified xsi:type="dcterms:W3CDTF">2026-10-16T12:37:24Z</dcterms:modified>
  <cp:category/>
</cp:coreProperties>
</file>